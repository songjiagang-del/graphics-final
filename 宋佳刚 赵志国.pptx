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Draw Calls</c:v>
                </c:pt>
              </c:strCache>
            </c:strRef>
          </c:tx>
          <c:spPr>
            <a:solidFill>
              <a:srgbClr val="4C7FC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400" b="0" i="0" u="none" strike="noStrike" kern="1200" baseline="0">
                    <a:solidFill>
                      <a:srgbClr val="1E293B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基础(阴影开)</c:v>
                </c:pt>
                <c:pt idx="1">
                  <c:v>关闭阴影</c:v>
                </c:pt>
                <c:pt idx="2">
                  <c:v>开启 Bloom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</c:v>
                </c:pt>
                <c:pt idx="1">
                  <c:v>12</c:v>
                </c:pt>
                <c:pt idx="2">
                  <c:v>70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300" b="0" i="0" u="none" strike="noStrike" kern="1200" baseline="0">
                <a:solidFill>
                  <a:srgbClr val="64748B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00000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03d21ef1-6e9f-43a7-9e11-454b4c26a597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0" Type="http://schemas.openxmlformats.org/officeDocument/2006/relationships/notesSlide" Target="../notesSlides/notesSlide2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7.xml"/><Relationship Id="rId8" Type="http://schemas.openxmlformats.org/officeDocument/2006/relationships/tags" Target="../tags/tag26.xml"/><Relationship Id="rId7" Type="http://schemas.openxmlformats.org/officeDocument/2006/relationships/tags" Target="../tags/tag25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4" Type="http://schemas.openxmlformats.org/officeDocument/2006/relationships/notesSlide" Target="../notesSlides/notesSlide10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30.xml"/><Relationship Id="rId11" Type="http://schemas.openxmlformats.org/officeDocument/2006/relationships/tags" Target="../tags/tag29.xml"/><Relationship Id="rId10" Type="http://schemas.openxmlformats.org/officeDocument/2006/relationships/tags" Target="../tags/tag28.xml"/><Relationship Id="rId1" Type="http://schemas.openxmlformats.org/officeDocument/2006/relationships/tags" Target="../tags/tag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3108960" cy="3108960"/>
          </a:xfrm>
          <a:prstGeom prst="ellipse">
            <a:avLst/>
          </a:prstGeom>
          <a:solidFill>
            <a:srgbClr val="E8A33D">
              <a:alpha val="22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914400" y="5120640"/>
            <a:ext cx="2926080" cy="2926080"/>
          </a:xfrm>
          <a:prstGeom prst="ellipse">
            <a:avLst/>
          </a:prstGeom>
          <a:solidFill>
            <a:srgbClr val="4C7FCB">
              <a:alpha val="2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kern="0" spc="200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计算机图形学与高级渲染 · 期末大作业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基于 WebGL / Three.js 的室内交互式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高级渲染系统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Blinn-Phong 光照 · 法线贴图 · 阴影映射 · FBO 后处理 · Blender 建模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小组成员：宋佳刚　赵志国
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专业：数字媒体技术      指导教师：张</a:t>
            </a:r>
            <a:r>
              <a:rPr lang="zh-CN" alt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小红</a:t>
            </a: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     日期：2026.06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 Agenda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Shape 4"/>
          <p:cNvSpPr/>
          <p:nvPr>
            <p:custDataLst>
              <p:tags r:id="rId1"/>
            </p:custDataLst>
          </p:nvPr>
        </p:nvSpPr>
        <p:spPr>
          <a:xfrm>
            <a:off x="731520" y="155448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>
            <p:custDataLst>
              <p:tags r:id="rId2"/>
            </p:custDataLst>
          </p:nvPr>
        </p:nvSpPr>
        <p:spPr>
          <a:xfrm>
            <a:off x="960120" y="1737360"/>
            <a:ext cx="10972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4000" dirty="0"/>
          </a:p>
        </p:txBody>
      </p:sp>
      <p:sp>
        <p:nvSpPr>
          <p:cNvPr id="8" name="Text 6"/>
          <p:cNvSpPr/>
          <p:nvPr>
            <p:custDataLst>
              <p:tags r:id="rId3"/>
            </p:custDataLst>
          </p:nvPr>
        </p:nvSpPr>
        <p:spPr>
          <a:xfrm>
            <a:off x="2148840" y="1554480"/>
            <a:ext cx="36576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项目概述与系统架构</a:t>
            </a:r>
            <a:endParaRPr lang="en-US" sz="1700" dirty="0"/>
          </a:p>
        </p:txBody>
      </p:sp>
      <p:sp>
        <p:nvSpPr>
          <p:cNvPr id="9" name="Shape 7"/>
          <p:cNvSpPr/>
          <p:nvPr>
            <p:custDataLst>
              <p:tags r:id="rId4"/>
            </p:custDataLst>
          </p:nvPr>
        </p:nvSpPr>
        <p:spPr>
          <a:xfrm>
            <a:off x="6309360" y="155448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>
            <p:custDataLst>
              <p:tags r:id="rId5"/>
            </p:custDataLst>
          </p:nvPr>
        </p:nvSpPr>
        <p:spPr>
          <a:xfrm>
            <a:off x="6537960" y="1737360"/>
            <a:ext cx="10972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9"/>
          <p:cNvSpPr/>
          <p:nvPr>
            <p:custDataLst>
              <p:tags r:id="rId6"/>
            </p:custDataLst>
          </p:nvPr>
        </p:nvSpPr>
        <p:spPr>
          <a:xfrm>
            <a:off x="7726680" y="1554480"/>
            <a:ext cx="36576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Blender 建模与资产管线</a:t>
            </a:r>
            <a:endParaRPr lang="en-US" sz="1700" dirty="0"/>
          </a:p>
        </p:txBody>
      </p:sp>
      <p:sp>
        <p:nvSpPr>
          <p:cNvPr id="12" name="Shape 10"/>
          <p:cNvSpPr/>
          <p:nvPr>
            <p:custDataLst>
              <p:tags r:id="rId7"/>
            </p:custDataLst>
          </p:nvPr>
        </p:nvSpPr>
        <p:spPr>
          <a:xfrm>
            <a:off x="731520" y="310896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>
            <p:custDataLst>
              <p:tags r:id="rId8"/>
            </p:custDataLst>
          </p:nvPr>
        </p:nvSpPr>
        <p:spPr>
          <a:xfrm>
            <a:off x="960120" y="3291840"/>
            <a:ext cx="10972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>
            <p:custDataLst>
              <p:tags r:id="rId9"/>
            </p:custDataLst>
          </p:nvPr>
        </p:nvSpPr>
        <p:spPr>
          <a:xfrm>
            <a:off x="2148840" y="3108960"/>
            <a:ext cx="36576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核心技术：Blinn-Phong / 法线贴图 / 阴影</a:t>
            </a:r>
            <a:endParaRPr lang="en-US" sz="1700" dirty="0"/>
          </a:p>
        </p:txBody>
      </p:sp>
      <p:sp>
        <p:nvSpPr>
          <p:cNvPr id="15" name="Shape 13"/>
          <p:cNvSpPr/>
          <p:nvPr>
            <p:custDataLst>
              <p:tags r:id="rId10"/>
            </p:custDataLst>
          </p:nvPr>
        </p:nvSpPr>
        <p:spPr>
          <a:xfrm>
            <a:off x="6309360" y="310896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>
            <p:custDataLst>
              <p:tags r:id="rId11"/>
            </p:custDataLst>
          </p:nvPr>
        </p:nvSpPr>
        <p:spPr>
          <a:xfrm>
            <a:off x="6537960" y="3291840"/>
            <a:ext cx="10972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4000" dirty="0"/>
          </a:p>
        </p:txBody>
      </p:sp>
      <p:sp>
        <p:nvSpPr>
          <p:cNvPr id="17" name="Text 15"/>
          <p:cNvSpPr/>
          <p:nvPr>
            <p:custDataLst>
              <p:tags r:id="rId12"/>
            </p:custDataLst>
          </p:nvPr>
        </p:nvSpPr>
        <p:spPr>
          <a:xfrm>
            <a:off x="7726680" y="3108960"/>
            <a:ext cx="36576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后处理与交互功能</a:t>
            </a:r>
            <a:endParaRPr lang="en-US" sz="1700" dirty="0"/>
          </a:p>
        </p:txBody>
      </p:sp>
      <p:sp>
        <p:nvSpPr>
          <p:cNvPr id="18" name="Shape 16"/>
          <p:cNvSpPr/>
          <p:nvPr>
            <p:custDataLst>
              <p:tags r:id="rId13"/>
            </p:custDataLst>
          </p:nvPr>
        </p:nvSpPr>
        <p:spPr>
          <a:xfrm>
            <a:off x="731520" y="46634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>
            <p:custDataLst>
              <p:tags r:id="rId14"/>
            </p:custDataLst>
          </p:nvPr>
        </p:nvSpPr>
        <p:spPr>
          <a:xfrm>
            <a:off x="960120" y="4846320"/>
            <a:ext cx="10972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4000" dirty="0"/>
          </a:p>
        </p:txBody>
      </p:sp>
      <p:sp>
        <p:nvSpPr>
          <p:cNvPr id="20" name="Text 18"/>
          <p:cNvSpPr/>
          <p:nvPr>
            <p:custDataLst>
              <p:tags r:id="rId15"/>
            </p:custDataLst>
          </p:nvPr>
        </p:nvSpPr>
        <p:spPr>
          <a:xfrm>
            <a:off x="2148840" y="4663440"/>
            <a:ext cx="36576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性能优化与量化对比</a:t>
            </a:r>
            <a:endParaRPr lang="en-US" sz="1700" dirty="0"/>
          </a:p>
        </p:txBody>
      </p:sp>
      <p:sp>
        <p:nvSpPr>
          <p:cNvPr id="21" name="Shape 19"/>
          <p:cNvSpPr/>
          <p:nvPr>
            <p:custDataLst>
              <p:tags r:id="rId16"/>
            </p:custDataLst>
          </p:nvPr>
        </p:nvSpPr>
        <p:spPr>
          <a:xfrm>
            <a:off x="6309360" y="46634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>
            <p:custDataLst>
              <p:tags r:id="rId17"/>
            </p:custDataLst>
          </p:nvPr>
        </p:nvSpPr>
        <p:spPr>
          <a:xfrm>
            <a:off x="6537960" y="4846320"/>
            <a:ext cx="10972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4000" dirty="0"/>
          </a:p>
        </p:txBody>
      </p:sp>
      <p:sp>
        <p:nvSpPr>
          <p:cNvPr id="23" name="Text 21"/>
          <p:cNvSpPr/>
          <p:nvPr>
            <p:custDataLst>
              <p:tags r:id="rId18"/>
            </p:custDataLst>
          </p:nvPr>
        </p:nvSpPr>
        <p:spPr>
          <a:xfrm>
            <a:off x="7726680" y="4663440"/>
            <a:ext cx="36576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结合课程所学 · 个人分工 · 展望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项目概述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5486400" cy="4114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运行于浏览器的实时三维室内场景，纯 HTML + JavaScript，零打包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几何全部 Blender 程序化建模，导出 GLB 实时加载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第一人称漫游、射线拾取、实时参数面板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155448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Image 0" descr="overall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691640"/>
            <a:ext cx="5120640" cy="29809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55080" y="5166360"/>
            <a:ext cx="5394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整体场景：PBR + 阴影 + 法线贴图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系统架构（模块化）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19072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index.html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2331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页面 / importmap / UI 容器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02152" y="155448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85032" y="1719072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main.js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85032" y="2121408"/>
            <a:ext cx="2331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入口 · 渲染循环 · 装配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64224" y="155448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47104" y="1719072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scene.js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47104" y="2121408"/>
            <a:ext cx="2331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光照 · 阴影 · GLB 加载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26296" y="155448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409176" y="1719072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camera.js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409176" y="2121408"/>
            <a:ext cx="2331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透视/正交 · 第一人称控制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29718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136392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postProcess.js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3538728"/>
            <a:ext cx="2331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EffectComposer 后处理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02152" y="29718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85032" y="3136392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picker.js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85032" y="3538728"/>
            <a:ext cx="2331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射线拾取与高亮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64224" y="29718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47104" y="3136392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ui.js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47104" y="3538728"/>
            <a:ext cx="2331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实时参数面板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226296" y="29718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409176" y="3136392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shaders/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409176" y="3538728"/>
            <a:ext cx="2331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Blinn-Phong · Sobel 边缘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526280"/>
            <a:ext cx="10908792" cy="1280160"/>
          </a:xfrm>
          <a:prstGeom prst="roundRect">
            <a:avLst>
              <a:gd name="adj" fmla="val 5714"/>
            </a:avLst>
          </a:prstGeom>
          <a:solidFill>
            <a:srgbClr val="FFF6E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4526280"/>
            <a:ext cx="155448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资产管线：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2286000" y="4526280"/>
            <a:ext cx="91440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Blender</a:t>
            </a:r>
            <a:r>
              <a:rPr lang="zh-CN" alt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建模</a:t>
            </a: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→   导出 GLB (Y-up)   →   Three.js GLTFLoader 实时加载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Blender 建模与资产管线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557784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全部模型用Blender</a:t>
            </a:r>
            <a:r>
              <a:rPr lang="zh-CN" alt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制作然后导出</a:t>
            </a:r>
            <a:r>
              <a:rPr lang="en-US" altLang="zh-CN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glb</a:t>
            </a:r>
            <a:r>
              <a:rPr lang="zh-CN" alt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文件</a:t>
            </a: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，非外部下载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几何类型：平面 / 立方体 / 球体 / 圆柱 / 圆锥 + 自定义合并网格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桌、椅、台灯由多基本体 join 为“自定义网格模型”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多材质模型加载后按物体名拆分收集，便于整体拾取高亮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91640"/>
            <a:ext cx="24688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平面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89720" y="169164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89720" y="1691640"/>
            <a:ext cx="24688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立方体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92240" y="29718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2971800"/>
            <a:ext cx="24688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球体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89720" y="29718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89720" y="2971800"/>
            <a:ext cx="24688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圆柱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92240" y="4251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92240" y="4251960"/>
            <a:ext cx="24688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圆锥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89720" y="4251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89720" y="4251960"/>
            <a:ext cx="24688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自定义网格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92240" y="5577840"/>
            <a:ext cx="5303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≥ 5 种几何体 + 自定义网格模型（满足试卷要求）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核心技术 ①：Blinn-Phong 光照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I = kₐIₐ + Σ [ k_d·I·max(0, N·L) + k_s·I·max(0, N·H)^α ]</a:t>
            </a:r>
            <a:endParaRPr lang="en-US" sz="1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半程向量 H = (L+V)/|L+V|   ·   点光衰减 1/(1+d²/r²)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972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环境光 + 漫反射(Lambert) + 镜面反射 · 方向光与点光双光源 · 可与 PBR 一键切换对比</a:t>
            </a:r>
            <a:endParaRPr lang="en-US" sz="1400" dirty="0"/>
          </a:p>
        </p:txBody>
      </p:sp>
      <p:pic>
        <p:nvPicPr>
          <p:cNvPr id="8" name="Image 0" descr="blinn_pbr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3063240"/>
            <a:ext cx="10515600" cy="30449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6144768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左 PBR（暗、真实、高光聚拢） ｜ 右 Blinn-Phong（亮、平、平面高光成片）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核心技术 ②：切线空间法线贴图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658368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不增加几何面数，逐像素扰动法向量表现微观凹凸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切线空间解码： n_t = 2·texel − 1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TBN 矩阵变换： n_world = normalize(TBN · n_t)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本项目由基础色派生：亮度高度场 → Sobel 梯度 → 法线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与课程实验一“纹理采样 / Mipmap 抗锯齿”同源理论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98080" y="1737360"/>
            <a:ext cx="4206240" cy="3291840"/>
          </a:xfrm>
          <a:prstGeom prst="roundRect">
            <a:avLst>
              <a:gd name="adj" fmla="val 2222"/>
            </a:avLst>
          </a:prstGeom>
          <a:solidFill>
            <a:srgbClr val="FFF6E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0" y="2011680"/>
            <a:ext cx="38404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n_t = normalize(−s·∂h/∂u, −s·∂h/∂v, 1)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80960" y="2834640"/>
            <a:ext cx="3840480" cy="2011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中心差分近似高度场梯度，组合为切线空间法线后按 0.5n+0.5 重映射写入 RGB 通道，并由亮度派生粗糙度贴图。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核心技术 ③：Shadow Mapping + PCF 软阴影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两遍式：光源视角渲染深度图 → 相机视角深度比较判遮挡</a:t>
            </a:r>
            <a:endParaRPr lang="en-US" sz="14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p_light = P_l · V_l · M · p     可见度(PCF) = (1/n)Σ compare(d−bias, depth)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10972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贴图 2048² (&gt;1024²要求) · PCFSoftShadowMap · bias/radius 调校消除痤疮与硬边</a:t>
            </a:r>
            <a:endParaRPr lang="en-US" sz="1300" dirty="0"/>
          </a:p>
        </p:txBody>
      </p:sp>
      <p:pic>
        <p:nvPicPr>
          <p:cNvPr id="8" name="Image 0" descr="shadow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3017520"/>
            <a:ext cx="10515600" cy="30449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6108192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左 阴影开（投影 + 接触感） ｜ 右 阴影关（扁平），draw call 57 → 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后处理（FBO 离屏渲染，≥2 种）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Bloom 辉光：亮度阈值提取 → 多级高斯模糊 → 叠加（UnrealBloomPass）</a:t>
            </a:r>
            <a:endParaRPr lang="en-US" sz="14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Sobel 边缘检测：自写 GLSL，梯度幅值 E = √(Gx²+Gy²) 提取轮廓</a:t>
            </a:r>
            <a:endParaRPr lang="en-US" sz="1400" dirty="0"/>
          </a:p>
        </p:txBody>
      </p:sp>
      <p:pic>
        <p:nvPicPr>
          <p:cNvPr id="7" name="Image 0" descr="postfx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697480"/>
            <a:ext cx="10515600" cy="30449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5806440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左 Bloom 辉光（台灯/球泛光） ｜ 右 Sobel 边缘检测（轮廓描边 · NPR 风格）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交互与功能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Shape 4"/>
          <p:cNvSpPr/>
          <p:nvPr>
            <p:custDataLst>
              <p:tags r:id="rId1"/>
            </p:custDataLst>
          </p:nvPr>
        </p:nvSpPr>
        <p:spPr>
          <a:xfrm>
            <a:off x="731520" y="164592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>
            <p:custDataLst>
              <p:tags r:id="rId2"/>
            </p:custDataLst>
          </p:nvPr>
        </p:nvSpPr>
        <p:spPr>
          <a:xfrm>
            <a:off x="1005840" y="1874520"/>
            <a:ext cx="4572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第一人称漫游</a:t>
            </a:r>
            <a:endParaRPr lang="en-US" sz="1900" dirty="0"/>
          </a:p>
        </p:txBody>
      </p:sp>
      <p:sp>
        <p:nvSpPr>
          <p:cNvPr id="8" name="Text 6"/>
          <p:cNvSpPr/>
          <p:nvPr>
            <p:custDataLst>
              <p:tags r:id="rId3"/>
            </p:custDataLst>
          </p:nvPr>
        </p:nvSpPr>
        <p:spPr>
          <a:xfrm>
            <a:off x="1005840" y="2423160"/>
            <a:ext cx="45720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WASD/方向键移动，鼠标转视角，Space/Shift 升降</a:t>
            </a:r>
            <a:endParaRPr lang="en-US" sz="1400" dirty="0"/>
          </a:p>
        </p:txBody>
      </p:sp>
      <p:sp>
        <p:nvSpPr>
          <p:cNvPr id="9" name="Shape 7"/>
          <p:cNvSpPr/>
          <p:nvPr>
            <p:custDataLst>
              <p:tags r:id="rId4"/>
            </p:custDataLst>
          </p:nvPr>
        </p:nvSpPr>
        <p:spPr>
          <a:xfrm>
            <a:off x="6309360" y="164592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>
            <p:custDataLst>
              <p:tags r:id="rId5"/>
            </p:custDataLst>
          </p:nvPr>
        </p:nvSpPr>
        <p:spPr>
          <a:xfrm>
            <a:off x="6583680" y="1874520"/>
            <a:ext cx="4572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透视 / 正交切换</a:t>
            </a:r>
            <a:endParaRPr lang="en-US" sz="1900" dirty="0"/>
          </a:p>
        </p:txBody>
      </p:sp>
      <p:sp>
        <p:nvSpPr>
          <p:cNvPr id="11" name="Text 9"/>
          <p:cNvSpPr/>
          <p:nvPr>
            <p:custDataLst>
              <p:tags r:id="rId6"/>
            </p:custDataLst>
          </p:nvPr>
        </p:nvSpPr>
        <p:spPr>
          <a:xfrm>
            <a:off x="6583680" y="2423160"/>
            <a:ext cx="45720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两相机共享位姿，一键切换投影方式</a:t>
            </a:r>
            <a:endParaRPr lang="en-US" sz="1400" dirty="0"/>
          </a:p>
        </p:txBody>
      </p:sp>
      <p:sp>
        <p:nvSpPr>
          <p:cNvPr id="12" name="Shape 10"/>
          <p:cNvSpPr/>
          <p:nvPr>
            <p:custDataLst>
              <p:tags r:id="rId7"/>
            </p:custDataLst>
          </p:nvPr>
        </p:nvSpPr>
        <p:spPr>
          <a:xfrm>
            <a:off x="731520" y="36576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>
            <p:custDataLst>
              <p:tags r:id="rId8"/>
            </p:custDataLst>
          </p:nvPr>
        </p:nvSpPr>
        <p:spPr>
          <a:xfrm>
            <a:off x="1005840" y="3886200"/>
            <a:ext cx="4572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射线拾取高亮</a:t>
            </a:r>
            <a:endParaRPr lang="en-US" sz="1900" dirty="0"/>
          </a:p>
        </p:txBody>
      </p:sp>
      <p:sp>
        <p:nvSpPr>
          <p:cNvPr id="14" name="Text 12"/>
          <p:cNvSpPr/>
          <p:nvPr>
            <p:custDataLst>
              <p:tags r:id="rId9"/>
            </p:custDataLst>
          </p:nvPr>
        </p:nvSpPr>
        <p:spPr>
          <a:xfrm>
            <a:off x="1005840" y="4434840"/>
            <a:ext cx="45720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屏幕中心射线选中物体，多材质整体高亮</a:t>
            </a:r>
            <a:endParaRPr lang="en-US" sz="1400" dirty="0"/>
          </a:p>
        </p:txBody>
      </p:sp>
      <p:sp>
        <p:nvSpPr>
          <p:cNvPr id="15" name="Shape 13"/>
          <p:cNvSpPr/>
          <p:nvPr>
            <p:custDataLst>
              <p:tags r:id="rId10"/>
            </p:custDataLst>
          </p:nvPr>
        </p:nvSpPr>
        <p:spPr>
          <a:xfrm>
            <a:off x="6309360" y="36576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>
            <p:custDataLst>
              <p:tags r:id="rId11"/>
            </p:custDataLst>
          </p:nvPr>
        </p:nvSpPr>
        <p:spPr>
          <a:xfrm>
            <a:off x="6583680" y="3886200"/>
            <a:ext cx="4572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C7FC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实时参数面板</a:t>
            </a:r>
            <a:endParaRPr lang="en-US" sz="1900" dirty="0"/>
          </a:p>
        </p:txBody>
      </p:sp>
      <p:sp>
        <p:nvSpPr>
          <p:cNvPr id="17" name="Text 15"/>
          <p:cNvSpPr/>
          <p:nvPr>
            <p:custDataLst>
              <p:tags r:id="rId12"/>
            </p:custDataLst>
          </p:nvPr>
        </p:nvSpPr>
        <p:spPr>
          <a:xfrm>
            <a:off x="6583680" y="4434840"/>
            <a:ext cx="45720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光照强度、阴影开关、金属度/粗糙度即时生效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性能优化与量化对比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645920"/>
          <a:ext cx="658368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73736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FF6E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680960" y="1874520"/>
            <a:ext cx="40233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≈ 165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7680960" y="2788920"/>
            <a:ext cx="4023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FPS（实时帧率）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680960" y="3657600"/>
            <a:ext cx="4023360" cy="2103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深度测试 + 视锥剔除（引擎默认）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阴影通路是主要 draw call 来源（57→12）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后处理 Pass 按特效数量线性增加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统计经手动重置 info，反映真实调用数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结合课程所学（实验一 / 实验二）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731520" y="1645920"/>
          <a:ext cx="10698480" cy="3968496"/>
        </p:xfrm>
        <a:graphic>
          <a:graphicData uri="http://schemas.openxmlformats.org/drawingml/2006/table">
            <a:tbl>
              <a:tblPr/>
              <a:tblGrid>
                <a:gridCol w="4206240"/>
                <a:gridCol w="6492240"/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本项目技术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7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对应课程实验内容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7FC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MVP 变换 / 投影切换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实验一：坐标变换、模型变换（齐次坐标）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纹理映射 / 法线贴图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实验一：纹理采样、Mipmap 抗锯齿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MSAA / PCF 抗锯齿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实验一：超采样抗锯齿 SSAA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Blinn-Phong 漫反射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实验二：漫反射 BSDF  f = ρ/π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环境光 / Bloom 近似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实验二：蒙特卡洛全局光照、路径追踪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射线拾取求交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实验二：Möller–Trumbore 三角形求交、BVH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个人分工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355080"/>
            <a:ext cx="3108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图形学与高级渲染 · 期末答辩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（请按实际分工填写）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731520" y="1920240"/>
          <a:ext cx="10698480" cy="2468880"/>
        </p:xfrm>
        <a:graphic>
          <a:graphicData uri="http://schemas.openxmlformats.org/drawingml/2006/table">
            <a:tbl>
              <a:tblPr/>
              <a:tblGrid>
                <a:gridCol w="2377440"/>
                <a:gridCol w="6492240"/>
                <a:gridCol w="1828800"/>
              </a:tblGrid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姓名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7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负责模块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7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工作占比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7FC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宋佳刚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光照与着色（Blinn-Phong / 法线贴图）、后处理</a:t>
                      </a:r>
                      <a:r>
                        <a:rPr lang="zh-CN" altLang="en-US" sz="14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、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  <a:sym typeface="+mn-ea"/>
                        </a:rPr>
                        <a:t>交互</a:t>
                      </a:r>
                      <a:endParaRPr lang="zh-CN" altLang="en-US" sz="14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50%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赵志国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Blender 建模 / 资产管线、阴影、 UI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50%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480560"/>
            <a:ext cx="3291840" cy="3291840"/>
          </a:xfrm>
          <a:prstGeom prst="ellipse">
            <a:avLst/>
          </a:prstGeom>
          <a:solidFill>
            <a:srgbClr val="E8A33D">
              <a:alpha val="2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总结与展望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3474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E2E8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白盒实现 Blinn-Phong / 法线贴图 / Shadow Mapping，理论到实时渲染闭环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E2E8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Blender 程序化建模提供全部几何资产，交互与后处理完整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E2E8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综合运用课程实验一（光栅化）与实验二（路径追踪）所学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展望：Cook-Torrance PBR + IBL/SSAO、LOD 与背面剔除、几何着色器动态网格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5577840"/>
            <a:ext cx="100584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感谢聆听 · 敬请指正</a:t>
            </a:r>
            <a:endParaRPr lang="en-US" sz="22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2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3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4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5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6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7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8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9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0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1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2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3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4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5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6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7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8.xml><?xml version="1.0" encoding="utf-8"?>
<p:tagLst xmlns:p="http://schemas.openxmlformats.org/presentationml/2006/main">
  <p:tag name="KSO_WM_DIAGRAM_VIRTUALLY_FRAME" val="{&quot;height&quot;:345.6,&quot;left&quot;:57.6,&quot;top&quot;:122.4,&quot;width&quot;:849.6}"/>
</p:tagLst>
</file>

<file path=ppt/tags/tag19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0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1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2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3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4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5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6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7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8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29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ags/tag30.xml><?xml version="1.0" encoding="utf-8"?>
<p:tagLst xmlns:p="http://schemas.openxmlformats.org/presentationml/2006/main">
  <p:tag name="KSO_WM_DIAGRAM_VIRTUALLY_FRAME" val="{&quot;height&quot;:295.2,&quot;left&quot;:57.6,&quot;top&quot;:129.6,&quot;width&quot;:842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2582</Words>
  <Application>WPS 演示</Application>
  <PresentationFormat>On-screen Show (16:9)</PresentationFormat>
  <Paragraphs>278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宋体</vt:lpstr>
      <vt:lpstr>Wingdings</vt:lpstr>
      <vt:lpstr>微软雅黑</vt:lpstr>
      <vt:lpstr>微软雅黑</vt:lpstr>
      <vt:lpstr>Arial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图形学与高级渲染期末答辩</dc:title>
  <dc:creator>Graphics Final Group</dc:creator>
  <dc:subject>PptxGenJS Presentation</dc:subject>
  <cp:lastModifiedBy>云森</cp:lastModifiedBy>
  <cp:revision>3</cp:revision>
  <dcterms:created xsi:type="dcterms:W3CDTF">2026-06-24T02:03:00Z</dcterms:created>
  <dcterms:modified xsi:type="dcterms:W3CDTF">2026-06-26T02:23:59Z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1E3036BEE06045E5B64AD462AC206660_12</vt:lpwstr>
  </property>
</Properties>
</file>