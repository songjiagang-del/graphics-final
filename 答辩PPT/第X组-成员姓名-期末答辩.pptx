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 Calls</c:v>
                </c:pt>
              </c:strCache>
            </c:strRef>
          </c:tx>
          <c:spPr>
            <a:solidFill>
              <a:srgbClr val="4C7FC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1E293B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基础(阴影开)</c:v>
                </c:pt>
                <c:pt idx="1">
                  <c:v>关闭阴影</c:v>
                </c:pt>
                <c:pt idx="2">
                  <c:v>开启 Bloom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12</c:v>
                </c:pt>
                <c:pt idx="2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64748B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3d21ef1-6e9f-43a7-9e11-454b4c26a59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108960" cy="3108960"/>
          </a:xfrm>
          <a:prstGeom prst="ellipse">
            <a:avLst/>
          </a:prstGeom>
          <a:solidFill>
            <a:srgbClr val="E8A33D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4C7FCB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计算机图形学与高级渲染 · 期末大作业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WebGL / Three.js 的室内交互式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高级渲染系统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光照 · 法线贴图 · 阴影映射 · FBO 后处理 · Blender 程序化建模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小组成员：___________________________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专业：数字媒体技术      指导教师：张</a:t>
            </a:r>
            <a:r>
              <a:rPr lang="zh-CN" alt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</a:t>
            </a: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日期：2026.06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4884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项目概述与系统架构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2668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4884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核心技术：Blinn-Phong / 法线贴图 / 阴影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72668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后处理与交互功能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4884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2668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 · 个人分工 · 展望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运行于浏览器的实时三维室内场景，纯 HTML + JavaScript，零打包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白盒实现关键渲染技术：自写 GLSL 着色器，可与引擎 PBR 对照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几何全部 Blender 程序化建模，导出 GLB 实时加载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第一人称漫游、射线拾取、实时参数面板，60–165 FPS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over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120640" cy="2980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51663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整体场景：PBR + 阴影 + 法线贴图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系统架构（模块化）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 / importmap / UI 容器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 · 渲染循环 · 装配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64224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scene.js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 · 阴影 · GLB 加载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26296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09176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camera.js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09176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透视/正交 · 第一人称控制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postProcess.js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EffectComposer 后处理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02152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85032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picker.js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85032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射线拾取与高亮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4224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ui.js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47104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09176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shaders/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09176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· Sobel 边缘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52628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资产管线：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526280"/>
            <a:ext cx="9144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(bpy 程序化建模)   →   导出 glTF / GLB (Y-up)   →   Three.js GLTFLoader 实时加载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全部模型用 Python (bpy) 脚本参数化生成，非外部下载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几何类型：平面 / 立方体 / 球体 / 圆柱 / 圆锥 + 自定义合并网格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桌、椅、台灯由多基本体 join 为“自定义网格模型”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glTF 导出启用 Y-up 转换，解决 Blender(Z-up) 坐标差异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多材质模型加载后按物体名拆分收集，便于整体拾取高亮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8972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8972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立方体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972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自定义网格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557784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5 种几何体 + 自定义网格模型（满足试卷要求）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①：Blinn-Phong 光照（自写 GLSL）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= kₐIₐ + Σ [ k_d·I·max(0, N·L) + k_s·I·max(0, N·H)^α ]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半程向量 H = (L+V)/|L+V|   ·   点光衰减 1/(1+d²/r²)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环境光 + 漫反射(Lambert) + 镜面反射 · 方向光与点光双光源 · 可与 PBR 一键切换对比</a:t>
            </a:r>
            <a:endParaRPr lang="en-US" sz="1400" dirty="0"/>
          </a:p>
        </p:txBody>
      </p:sp>
      <p:pic>
        <p:nvPicPr>
          <p:cNvPr id="8" name="Image 0" descr="blinn_pb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6324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PBR（暗、真实、高光聚拢） ｜ 右 Blinn-Phong（亮、平、平面高光成片）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②：切线空间法线贴图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58368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不增加几何面数，逐像素扰动法向量表现微观凹凸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切线空间解码： n_t = 2·texel − 1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TBN 矩阵变换： n_world = normalize(TBN · n_t)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本项目程序化生成：噪声高度场 → Sobel 梯度 → 法线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与课程实验一“纹理采样 / Mipmap 抗锯齿”同源理论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2011680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n_t = normalize(−s·∂h/∂u, −s·∂h/∂v, 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0" y="2834640"/>
            <a:ext cx="38404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中心差分近似高度场梯度，组合为切线空间法线后按 0.5n+0.5 重映射写入 RGB 通道，零外部贴图依赖。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③：Shadow Mapping + PCF 软阴影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两遍式：光源视角渲染深度图 → 相机视角深度比较判遮挡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p_light = P_l · V_l · M · p     可见度(PCF) = (1/n)Σ compare(d−bias, depth)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贴图 2048² (&gt;1024²要求) · PCFSoftShadowMap · bias/radius 调校消除痤疮与硬边</a:t>
            </a:r>
            <a:endParaRPr lang="en-US" sz="1300" dirty="0"/>
          </a:p>
        </p:txBody>
      </p:sp>
      <p:pic>
        <p:nvPicPr>
          <p:cNvPr id="8" name="Image 0" descr="shado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1752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阴影开（投影 + 接触感） ｜ 右 阴影关（扁平），draw call 57 →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后处理（FBO 离屏渲染，≥2 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Bloom 辉光：亮度阈值提取 → 多级高斯模糊 → 叠加（UnrealBloomPass）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Sobel 边缘检测：自写 GLSL，梯度幅值 E = √(Gx²+Gy²) 提取轮廓</a:t>
            </a:r>
            <a:endParaRPr lang="en-US" sz="1400" dirty="0"/>
          </a:p>
        </p:txBody>
      </p:sp>
      <p:pic>
        <p:nvPicPr>
          <p:cNvPr id="7" name="Image 0" descr="postfx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97480"/>
            <a:ext cx="10515600" cy="3044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Bloom 辉光（台灯/球泛光） ｜ 右 Sobel 边缘检测（轮廓描边 · NPR 风格）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交互与功能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WASD/方向键移动，鼠标转视角，Space/Shift 升降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 / 正交切换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两相机共享位姿，一键切换投影方式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射线拾取高亮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屏幕中心射线选中物体，多材质整体高亮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光照强度、阴影开关、金属度/粗糙度即时生效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7452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165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680960" y="27889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FPS（实时帧率）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657600"/>
            <a:ext cx="40233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深度测试 + 视锥剔除（引擎默认）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阴影通路是主要 draw call 来源（57→12）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 Pass 按特效数量线性增加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统计经手动重置 info，反映真实调用数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结合课程所学（实验一 / 实验二）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45920"/>
          <a:ext cx="10698480" cy="3968496"/>
        </p:xfrm>
        <a:graphic>
          <a:graphicData uri="http://schemas.openxmlformats.org/drawingml/2006/table">
            <a:tbl>
              <a:tblPr/>
              <a:tblGrid>
                <a:gridCol w="4206240"/>
                <a:gridCol w="649224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本项目技术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对应课程实验内容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MVP 变换 / 投影切换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实验一：坐标变换、模型变换（齐次坐标）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纹理映射 / 法线贴图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实验一：纹理采样、Mipmap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MSAA / PCF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实验一：超采样抗锯齿 SSAA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Blinn-Phong 漫反射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实验二：漫反射 BSDF  f = ρ/π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环境光 / Bloom 近似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实验二：蒙特卡洛全局光照、路径追踪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射线拾取求交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实验二：Möller–Trumbore 三角形求交、BVH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个人分工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（请按实际分工填写）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1520" y="1920240"/>
          <a:ext cx="1069848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6492240"/>
                <a:gridCol w="1828800"/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姓名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负责模块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＿＿＿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光照与着色（Blinn-Phong / 法线贴图）、后处理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＿＿%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＿＿＿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Blender 建模 / 资产管线、阴影、交互与 UI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＿＿%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291840" cy="3291840"/>
          </a:xfrm>
          <a:prstGeom prst="ellipse">
            <a:avLst/>
          </a:prstGeom>
          <a:solidFill>
            <a:srgbClr val="E8A33D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 Blinn-Phong / 法线贴图 / Shadow Mapping，理论到实时渲染闭环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程序化建模提供全部几何资产，交互与后处理完整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综合运用课程实验一（光栅化）与实验二（路径追踪）所学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展望：Cook-Torrance PBR + IBL/SSAO、LOD 与背面剔除、几何着色器动态网格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敬请指正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演示</Application>
  <PresentationFormat>On-screen Show (16:9)</PresentationFormat>
  <Paragraphs>280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图形学与高级渲染期末答辩</dc:title>
  <dc:creator>Graphics Final Group</dc:creator>
  <dc:subject>PptxGenJS Presentation</dc:subject>
  <cp:lastModifiedBy>云森</cp:lastModifiedBy>
  <cp:revision>2</cp:revision>
  <dcterms:created xsi:type="dcterms:W3CDTF">2026-06-24T02:03:00Z</dcterms:created>
  <dcterms:modified xsi:type="dcterms:W3CDTF">2026-06-25T10:26:49Z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1E3036BEE06045E5B64AD462AC206660_12</vt:lpwstr>
  </property>
</Properties>
</file>